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8" autoAdjust="0"/>
    <p:restoredTop sz="94610"/>
  </p:normalViewPr>
  <p:slideViewPr>
    <p:cSldViewPr snapToGrid="0" snapToObjects="1">
      <p:cViewPr varScale="1">
        <p:scale>
          <a:sx n="137" d="100"/>
          <a:sy n="137" d="100"/>
        </p:scale>
        <p:origin x="21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7827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CONTEXTUAL MEMORY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2468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SOURCE  ·  v0.5  ·  ALPHA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28803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kern="0" spc="-20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Contextual Memory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37947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kern="0" spc="-20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 </a:t>
            </a:r>
            <a:r>
              <a:rPr lang="en-US" sz="6000" b="1" kern="0" spc="-200" dirty="0">
                <a:solidFill>
                  <a:srgbClr val="39D3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(CMA)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memory layer your agent carries with it.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5943600"/>
            <a:ext cx="10911535" cy="7315"/>
          </a:xfrm>
          <a:prstGeom prst="rect">
            <a:avLst/>
          </a:prstGeom>
          <a:solidFill>
            <a:srgbClr val="1F2630"/>
          </a:solidFill>
          <a:ln w="12700">
            <a:solidFill>
              <a:srgbClr val="1F26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61081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github.com/danny-watkins/contextual-memory-architecture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894015" y="6108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DANNY WATKINS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91440" cy="91440"/>
          </a:xfrm>
          <a:prstGeom prst="ellipse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04672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·  THESIS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637215" y="3657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r>
              <a:rPr lang="en-US" sz="850" kern="0" spc="2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17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40080" y="658368"/>
            <a:ext cx="10911535" cy="7315"/>
          </a:xfrm>
          <a:prstGeom prst="rect">
            <a:avLst/>
          </a:prstGeom>
          <a:solidFill>
            <a:srgbClr val="1F2630"/>
          </a:solidFill>
          <a:ln w="12700">
            <a:solidFill>
              <a:srgbClr val="1F26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6355080"/>
            <a:ext cx="10911535" cy="7315"/>
          </a:xfrm>
          <a:prstGeom prst="rect">
            <a:avLst/>
          </a:prstGeom>
          <a:solidFill>
            <a:srgbClr val="1F2630"/>
          </a:solidFill>
          <a:ln w="12700">
            <a:solidFill>
              <a:srgbClr val="1F26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CONTEXTUAL MEMORY ARCHITECTURE  ·  v0.5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808415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DANNY WATKINS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" y="9601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10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closed loop.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40080" y="1554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sentences. The entire thesis.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30175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600200" y="29992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kern="0" spc="-8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Memory becomes context.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005840" y="37947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600200" y="377647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kern="0" spc="-8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 shapes action.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005840" y="45720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600200" y="455371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8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 becomes memory.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40080" y="59893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loop CMA implements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91440" cy="91440"/>
          </a:xfrm>
          <a:prstGeom prst="ellipse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04672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·  THE PROBLEM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637215" y="3657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r>
              <a:rPr lang="en-US" sz="850" kern="0" spc="2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17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40080" y="658368"/>
            <a:ext cx="10911535" cy="7315"/>
          </a:xfrm>
          <a:prstGeom prst="rect">
            <a:avLst/>
          </a:prstGeom>
          <a:solidFill>
            <a:srgbClr val="1F2630"/>
          </a:solidFill>
          <a:ln w="12700">
            <a:solidFill>
              <a:srgbClr val="1F26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6355080"/>
            <a:ext cx="10911535" cy="7315"/>
          </a:xfrm>
          <a:prstGeom prst="rect">
            <a:avLst/>
          </a:prstGeom>
          <a:solidFill>
            <a:srgbClr val="1F2630"/>
          </a:solidFill>
          <a:ln w="12700">
            <a:solidFill>
              <a:srgbClr val="1F26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CONTEXTUAL MEMORY ARCHITECTURE  ·  v0.5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808415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DANNY WATKINS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" y="9601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10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Stateless agents don't compound.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40080" y="1554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session starts cold. Experience never transfers.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697480"/>
            <a:ext cx="5394960" cy="1554480"/>
          </a:xfrm>
          <a:prstGeom prst="rect">
            <a:avLst/>
          </a:prstGeom>
          <a:solidFill>
            <a:srgbClr val="131820"/>
          </a:solidFill>
          <a:ln w="6350">
            <a:solidFill>
              <a:srgbClr val="1F26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60120" y="2971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60120" y="3200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-3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Forget prior decisions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36118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session re-litigates the same architectural choices.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09360" y="2697480"/>
            <a:ext cx="5394960" cy="1554480"/>
          </a:xfrm>
          <a:prstGeom prst="rect">
            <a:avLst/>
          </a:prstGeom>
          <a:solidFill>
            <a:srgbClr val="131820"/>
          </a:solidFill>
          <a:ln w="6350">
            <a:solidFill>
              <a:srgbClr val="1F26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29400" y="2971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629400" y="3200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-3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Re-learn project context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29400" y="36118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Conventions, constraints, and quirks rediscovered on every task.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526280"/>
            <a:ext cx="5394960" cy="1554480"/>
          </a:xfrm>
          <a:prstGeom prst="rect">
            <a:avLst/>
          </a:prstGeom>
          <a:solidFill>
            <a:srgbClr val="131820"/>
          </a:solidFill>
          <a:ln w="6350">
            <a:solidFill>
              <a:srgbClr val="1F26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601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60120" y="5029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-3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 the same mistakes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0120" y="5440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Postmortems exist but never surface when the same failure recurs.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09360" y="4526280"/>
            <a:ext cx="5394960" cy="1554480"/>
          </a:xfrm>
          <a:prstGeom prst="rect">
            <a:avLst/>
          </a:prstGeom>
          <a:solidFill>
            <a:srgbClr val="131820"/>
          </a:solidFill>
          <a:ln w="6350">
            <a:solidFill>
              <a:srgbClr val="1F26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629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629400" y="5029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-3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Lose relational context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629400" y="5440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 retrieves chunks, not the decisions linked to the project.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91440" cy="91440"/>
          </a:xfrm>
          <a:prstGeom prst="ellipse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04672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·  THE GAP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637215" y="3657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r>
              <a:rPr lang="en-US" sz="850" kern="0" spc="2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17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40080" y="658368"/>
            <a:ext cx="10911535" cy="7315"/>
          </a:xfrm>
          <a:prstGeom prst="rect">
            <a:avLst/>
          </a:prstGeom>
          <a:solidFill>
            <a:srgbClr val="1F2630"/>
          </a:solidFill>
          <a:ln w="12700">
            <a:solidFill>
              <a:srgbClr val="1F26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6355080"/>
            <a:ext cx="10911535" cy="7315"/>
          </a:xfrm>
          <a:prstGeom prst="rect">
            <a:avLst/>
          </a:prstGeom>
          <a:solidFill>
            <a:srgbClr val="1F2630"/>
          </a:solidFill>
          <a:ln w="12700">
            <a:solidFill>
              <a:srgbClr val="1F26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CONTEXTUAL MEMORY ARCHITECTURE  ·  v0.5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808415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DANNY WATKINS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" y="9601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10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 is not memory.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40080" y="1554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most useful context is structurally nearest, not semantically nearest.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697480"/>
            <a:ext cx="5394960" cy="3200400"/>
          </a:xfrm>
          <a:prstGeom prst="rect">
            <a:avLst/>
          </a:prstGeom>
          <a:solidFill>
            <a:srgbClr val="131820"/>
          </a:solidFill>
          <a:ln w="6350">
            <a:solidFill>
              <a:srgbClr val="1F26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30175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 RAG RETRIEVES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68680" y="35204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35204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nearest vector chunk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39776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39776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cosine similarity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44348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44348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ignores edges, time, status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48920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48920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indifferent to provenance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309360" y="2697480"/>
            <a:ext cx="5394960" cy="3200400"/>
          </a:xfrm>
          <a:prstGeom prst="rect">
            <a:avLst/>
          </a:prstGeom>
          <a:solidFill>
            <a:srgbClr val="131820"/>
          </a:solidFill>
          <a:ln w="6350">
            <a:solidFill>
              <a:srgbClr val="1F26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37960" y="30175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MEMORY NEEDS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537960" y="35204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0" y="35204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decisions linked to projects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37960" y="39776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58000" y="39776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postmortems linked to failures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37960" y="44348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58000" y="44348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patterns inferred across tasks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537960" y="48920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58000" y="48920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supersession-aware exclusion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91440" cy="91440"/>
          </a:xfrm>
          <a:prstGeom prst="ellipse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04672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·  TOPOLOGY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637215" y="3657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r>
              <a:rPr lang="en-US" sz="850" kern="0" spc="2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17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40080" y="658368"/>
            <a:ext cx="10911535" cy="7315"/>
          </a:xfrm>
          <a:prstGeom prst="rect">
            <a:avLst/>
          </a:prstGeom>
          <a:solidFill>
            <a:srgbClr val="1F2630"/>
          </a:solidFill>
          <a:ln w="12700">
            <a:solidFill>
              <a:srgbClr val="1F26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6355080"/>
            <a:ext cx="10911535" cy="7315"/>
          </a:xfrm>
          <a:prstGeom prst="rect">
            <a:avLst/>
          </a:prstGeom>
          <a:solidFill>
            <a:srgbClr val="1F2630"/>
          </a:solidFill>
          <a:ln w="12700">
            <a:solidFill>
              <a:srgbClr val="1F26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CONTEXTUAL MEMORY ARCHITECTURE  ·  v0.5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808415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DANNY WATKINS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" y="9601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10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Per-agent. Not one shared brain.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40080" y="1554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agent owns its own vault. Cross-agent retrieval is opt-in, never default.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97280" y="2606040"/>
            <a:ext cx="2377440" cy="1554480"/>
          </a:xfrm>
          <a:prstGeom prst="rect">
            <a:avLst/>
          </a:prstGeom>
          <a:solidFill>
            <a:srgbClr val="131820"/>
          </a:solidFill>
          <a:ln w="9525">
            <a:solidFill>
              <a:srgbClr val="2A32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97280" y="2606040"/>
            <a:ext cx="2377440" cy="36576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417320" y="2880360"/>
            <a:ext cx="73152" cy="73152"/>
          </a:xfrm>
          <a:prstGeom prst="ellipse">
            <a:avLst/>
          </a:prstGeom>
          <a:solidFill>
            <a:srgbClr val="39D353"/>
          </a:solidFill>
          <a:ln w="12700">
            <a:solidFill>
              <a:srgbClr val="0B0E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709928" y="2880360"/>
            <a:ext cx="73152" cy="73152"/>
          </a:xfrm>
          <a:prstGeom prst="ellipse">
            <a:avLst/>
          </a:prstGeom>
          <a:solidFill>
            <a:srgbClr val="484F58">
              <a:alpha val="60000"/>
            </a:srgbClr>
          </a:solidFill>
          <a:ln w="12700">
            <a:solidFill>
              <a:srgbClr val="0B0E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002536" y="2880360"/>
            <a:ext cx="73152" cy="73152"/>
          </a:xfrm>
          <a:prstGeom prst="ellipse">
            <a:avLst/>
          </a:prstGeom>
          <a:solidFill>
            <a:srgbClr val="484F58">
              <a:alpha val="60000"/>
            </a:srgbClr>
          </a:solidFill>
          <a:ln w="12700">
            <a:solidFill>
              <a:srgbClr val="0B0E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295144" y="2880360"/>
            <a:ext cx="73152" cy="73152"/>
          </a:xfrm>
          <a:prstGeom prst="ellipse">
            <a:avLst/>
          </a:prstGeom>
          <a:solidFill>
            <a:srgbClr val="484F58">
              <a:alpha val="60000"/>
            </a:srgbClr>
          </a:solidFill>
          <a:ln w="12700">
            <a:solidFill>
              <a:srgbClr val="0B0E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587752" y="2880360"/>
            <a:ext cx="73152" cy="73152"/>
          </a:xfrm>
          <a:prstGeom prst="ellipse">
            <a:avLst/>
          </a:prstGeom>
          <a:solidFill>
            <a:srgbClr val="484F58">
              <a:alpha val="60000"/>
            </a:srgbClr>
          </a:solidFill>
          <a:ln w="12700">
            <a:solidFill>
              <a:srgbClr val="0B0E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880360" y="2880360"/>
            <a:ext cx="73152" cy="73152"/>
          </a:xfrm>
          <a:prstGeom prst="ellipse">
            <a:avLst/>
          </a:prstGeom>
          <a:solidFill>
            <a:srgbClr val="39D353"/>
          </a:solidFill>
          <a:ln w="12700">
            <a:solidFill>
              <a:srgbClr val="0B0E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417320" y="3172968"/>
            <a:ext cx="73152" cy="73152"/>
          </a:xfrm>
          <a:prstGeom prst="ellipse">
            <a:avLst/>
          </a:prstGeom>
          <a:solidFill>
            <a:srgbClr val="484F58">
              <a:alpha val="60000"/>
            </a:srgbClr>
          </a:solidFill>
          <a:ln w="12700">
            <a:solidFill>
              <a:srgbClr val="0B0E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709928" y="3172968"/>
            <a:ext cx="73152" cy="73152"/>
          </a:xfrm>
          <a:prstGeom prst="ellipse">
            <a:avLst/>
          </a:prstGeom>
          <a:solidFill>
            <a:srgbClr val="484F58">
              <a:alpha val="60000"/>
            </a:srgbClr>
          </a:solidFill>
          <a:ln w="12700">
            <a:solidFill>
              <a:srgbClr val="0B0E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002536" y="3172968"/>
            <a:ext cx="73152" cy="73152"/>
          </a:xfrm>
          <a:prstGeom prst="ellipse">
            <a:avLst/>
          </a:prstGeom>
          <a:solidFill>
            <a:srgbClr val="484F58">
              <a:alpha val="60000"/>
            </a:srgbClr>
          </a:solidFill>
          <a:ln w="12700">
            <a:solidFill>
              <a:srgbClr val="0B0E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295144" y="3172968"/>
            <a:ext cx="73152" cy="73152"/>
          </a:xfrm>
          <a:prstGeom prst="ellipse">
            <a:avLst/>
          </a:prstGeom>
          <a:solidFill>
            <a:srgbClr val="484F58">
              <a:alpha val="60000"/>
            </a:srgbClr>
          </a:solidFill>
          <a:ln w="12700">
            <a:solidFill>
              <a:srgbClr val="0B0E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587752" y="3172968"/>
            <a:ext cx="73152" cy="73152"/>
          </a:xfrm>
          <a:prstGeom prst="ellipse">
            <a:avLst/>
          </a:prstGeom>
          <a:solidFill>
            <a:srgbClr val="39D353"/>
          </a:solidFill>
          <a:ln w="12700">
            <a:solidFill>
              <a:srgbClr val="0B0E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880360" y="3172968"/>
            <a:ext cx="73152" cy="73152"/>
          </a:xfrm>
          <a:prstGeom prst="ellipse">
            <a:avLst/>
          </a:prstGeom>
          <a:solidFill>
            <a:srgbClr val="484F58">
              <a:alpha val="60000"/>
            </a:srgbClr>
          </a:solidFill>
          <a:ln w="12700">
            <a:solidFill>
              <a:srgbClr val="0B0E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417320" y="3465576"/>
            <a:ext cx="73152" cy="73152"/>
          </a:xfrm>
          <a:prstGeom prst="ellipse">
            <a:avLst/>
          </a:prstGeom>
          <a:solidFill>
            <a:srgbClr val="484F58">
              <a:alpha val="60000"/>
            </a:srgbClr>
          </a:solidFill>
          <a:ln w="12700">
            <a:solidFill>
              <a:srgbClr val="0B0E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709928" y="3465576"/>
            <a:ext cx="73152" cy="73152"/>
          </a:xfrm>
          <a:prstGeom prst="ellipse">
            <a:avLst/>
          </a:prstGeom>
          <a:solidFill>
            <a:srgbClr val="484F58">
              <a:alpha val="60000"/>
            </a:srgbClr>
          </a:solidFill>
          <a:ln w="12700">
            <a:solidFill>
              <a:srgbClr val="0B0E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002536" y="3465576"/>
            <a:ext cx="73152" cy="73152"/>
          </a:xfrm>
          <a:prstGeom prst="ellipse">
            <a:avLst/>
          </a:prstGeom>
          <a:solidFill>
            <a:srgbClr val="484F58">
              <a:alpha val="60000"/>
            </a:srgbClr>
          </a:solidFill>
          <a:ln w="12700">
            <a:solidFill>
              <a:srgbClr val="0B0E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295144" y="3465576"/>
            <a:ext cx="73152" cy="73152"/>
          </a:xfrm>
          <a:prstGeom prst="ellipse">
            <a:avLst/>
          </a:prstGeom>
          <a:solidFill>
            <a:srgbClr val="39D353"/>
          </a:solidFill>
          <a:ln w="12700">
            <a:solidFill>
              <a:srgbClr val="0B0E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587752" y="3465576"/>
            <a:ext cx="73152" cy="73152"/>
          </a:xfrm>
          <a:prstGeom prst="ellipse">
            <a:avLst/>
          </a:prstGeom>
          <a:solidFill>
            <a:srgbClr val="484F58">
              <a:alpha val="60000"/>
            </a:srgbClr>
          </a:solidFill>
          <a:ln w="12700">
            <a:solidFill>
              <a:srgbClr val="0B0E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880360" y="3465576"/>
            <a:ext cx="73152" cy="73152"/>
          </a:xfrm>
          <a:prstGeom prst="ellipse">
            <a:avLst/>
          </a:prstGeom>
          <a:solidFill>
            <a:srgbClr val="484F58">
              <a:alpha val="60000"/>
            </a:srgbClr>
          </a:solidFill>
          <a:ln w="12700">
            <a:solidFill>
              <a:srgbClr val="0B0E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97280" y="37947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97280" y="39776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email-checker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92040" y="2606040"/>
            <a:ext cx="2377440" cy="1554480"/>
          </a:xfrm>
          <a:prstGeom prst="rect">
            <a:avLst/>
          </a:prstGeom>
          <a:solidFill>
            <a:srgbClr val="131820"/>
          </a:solidFill>
          <a:ln w="9525">
            <a:solidFill>
              <a:srgbClr val="2A32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892040" y="2606040"/>
            <a:ext cx="2377440" cy="36576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212080" y="2880360"/>
            <a:ext cx="73152" cy="73152"/>
          </a:xfrm>
          <a:prstGeom prst="ellipse">
            <a:avLst/>
          </a:prstGeom>
          <a:solidFill>
            <a:srgbClr val="39D353"/>
          </a:solidFill>
          <a:ln w="12700">
            <a:solidFill>
              <a:srgbClr val="0B0E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504688" y="2880360"/>
            <a:ext cx="73152" cy="73152"/>
          </a:xfrm>
          <a:prstGeom prst="ellipse">
            <a:avLst/>
          </a:prstGeom>
          <a:solidFill>
            <a:srgbClr val="484F58">
              <a:alpha val="60000"/>
            </a:srgbClr>
          </a:solidFill>
          <a:ln w="12700">
            <a:solidFill>
              <a:srgbClr val="0B0E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797296" y="2880360"/>
            <a:ext cx="73152" cy="73152"/>
          </a:xfrm>
          <a:prstGeom prst="ellipse">
            <a:avLst/>
          </a:prstGeom>
          <a:solidFill>
            <a:srgbClr val="484F58">
              <a:alpha val="60000"/>
            </a:srgbClr>
          </a:solidFill>
          <a:ln w="12700">
            <a:solidFill>
              <a:srgbClr val="0B0E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089904" y="2880360"/>
            <a:ext cx="73152" cy="73152"/>
          </a:xfrm>
          <a:prstGeom prst="ellipse">
            <a:avLst/>
          </a:prstGeom>
          <a:solidFill>
            <a:srgbClr val="484F58">
              <a:alpha val="60000"/>
            </a:srgbClr>
          </a:solidFill>
          <a:ln w="12700">
            <a:solidFill>
              <a:srgbClr val="0B0E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382512" y="2880360"/>
            <a:ext cx="73152" cy="73152"/>
          </a:xfrm>
          <a:prstGeom prst="ellipse">
            <a:avLst/>
          </a:prstGeom>
          <a:solidFill>
            <a:srgbClr val="484F58">
              <a:alpha val="60000"/>
            </a:srgbClr>
          </a:solidFill>
          <a:ln w="12700">
            <a:solidFill>
              <a:srgbClr val="0B0E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675120" y="2880360"/>
            <a:ext cx="73152" cy="73152"/>
          </a:xfrm>
          <a:prstGeom prst="ellipse">
            <a:avLst/>
          </a:prstGeom>
          <a:solidFill>
            <a:srgbClr val="39D353"/>
          </a:solidFill>
          <a:ln w="12700">
            <a:solidFill>
              <a:srgbClr val="0B0E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212080" y="3172968"/>
            <a:ext cx="73152" cy="73152"/>
          </a:xfrm>
          <a:prstGeom prst="ellipse">
            <a:avLst/>
          </a:prstGeom>
          <a:solidFill>
            <a:srgbClr val="484F58">
              <a:alpha val="60000"/>
            </a:srgbClr>
          </a:solidFill>
          <a:ln w="12700">
            <a:solidFill>
              <a:srgbClr val="0B0E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504688" y="3172968"/>
            <a:ext cx="73152" cy="73152"/>
          </a:xfrm>
          <a:prstGeom prst="ellipse">
            <a:avLst/>
          </a:prstGeom>
          <a:solidFill>
            <a:srgbClr val="484F58">
              <a:alpha val="60000"/>
            </a:srgbClr>
          </a:solidFill>
          <a:ln w="12700">
            <a:solidFill>
              <a:srgbClr val="0B0E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797296" y="3172968"/>
            <a:ext cx="73152" cy="73152"/>
          </a:xfrm>
          <a:prstGeom prst="ellipse">
            <a:avLst/>
          </a:prstGeom>
          <a:solidFill>
            <a:srgbClr val="484F58">
              <a:alpha val="60000"/>
            </a:srgbClr>
          </a:solidFill>
          <a:ln w="12700">
            <a:solidFill>
              <a:srgbClr val="0B0E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089904" y="3172968"/>
            <a:ext cx="73152" cy="73152"/>
          </a:xfrm>
          <a:prstGeom prst="ellipse">
            <a:avLst/>
          </a:prstGeom>
          <a:solidFill>
            <a:srgbClr val="484F58">
              <a:alpha val="60000"/>
            </a:srgbClr>
          </a:solidFill>
          <a:ln w="12700">
            <a:solidFill>
              <a:srgbClr val="0B0E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382512" y="3172968"/>
            <a:ext cx="73152" cy="73152"/>
          </a:xfrm>
          <a:prstGeom prst="ellipse">
            <a:avLst/>
          </a:prstGeom>
          <a:solidFill>
            <a:srgbClr val="39D353"/>
          </a:solidFill>
          <a:ln w="12700">
            <a:solidFill>
              <a:srgbClr val="0B0E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675120" y="3172968"/>
            <a:ext cx="73152" cy="73152"/>
          </a:xfrm>
          <a:prstGeom prst="ellipse">
            <a:avLst/>
          </a:prstGeom>
          <a:solidFill>
            <a:srgbClr val="484F58">
              <a:alpha val="60000"/>
            </a:srgbClr>
          </a:solidFill>
          <a:ln w="12700">
            <a:solidFill>
              <a:srgbClr val="0B0E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5212080" y="3465576"/>
            <a:ext cx="73152" cy="73152"/>
          </a:xfrm>
          <a:prstGeom prst="ellipse">
            <a:avLst/>
          </a:prstGeom>
          <a:solidFill>
            <a:srgbClr val="484F58">
              <a:alpha val="60000"/>
            </a:srgbClr>
          </a:solidFill>
          <a:ln w="12700">
            <a:solidFill>
              <a:srgbClr val="0B0E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5504688" y="3465576"/>
            <a:ext cx="73152" cy="73152"/>
          </a:xfrm>
          <a:prstGeom prst="ellipse">
            <a:avLst/>
          </a:prstGeom>
          <a:solidFill>
            <a:srgbClr val="484F58">
              <a:alpha val="60000"/>
            </a:srgbClr>
          </a:solidFill>
          <a:ln w="12700">
            <a:solidFill>
              <a:srgbClr val="0B0E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5797296" y="3465576"/>
            <a:ext cx="73152" cy="73152"/>
          </a:xfrm>
          <a:prstGeom prst="ellipse">
            <a:avLst/>
          </a:prstGeom>
          <a:solidFill>
            <a:srgbClr val="484F58">
              <a:alpha val="60000"/>
            </a:srgbClr>
          </a:solidFill>
          <a:ln w="12700">
            <a:solidFill>
              <a:srgbClr val="0B0E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089904" y="3465576"/>
            <a:ext cx="73152" cy="73152"/>
          </a:xfrm>
          <a:prstGeom prst="ellipse">
            <a:avLst/>
          </a:prstGeom>
          <a:solidFill>
            <a:srgbClr val="39D353"/>
          </a:solidFill>
          <a:ln w="12700">
            <a:solidFill>
              <a:srgbClr val="0B0E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382512" y="3465576"/>
            <a:ext cx="73152" cy="73152"/>
          </a:xfrm>
          <a:prstGeom prst="ellipse">
            <a:avLst/>
          </a:prstGeom>
          <a:solidFill>
            <a:srgbClr val="484F58">
              <a:alpha val="60000"/>
            </a:srgbClr>
          </a:solidFill>
          <a:ln w="12700">
            <a:solidFill>
              <a:srgbClr val="0B0E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6675120" y="3465576"/>
            <a:ext cx="73152" cy="73152"/>
          </a:xfrm>
          <a:prstGeom prst="ellipse">
            <a:avLst/>
          </a:prstGeom>
          <a:solidFill>
            <a:srgbClr val="484F58">
              <a:alpha val="60000"/>
            </a:srgbClr>
          </a:solidFill>
          <a:ln w="12700">
            <a:solidFill>
              <a:srgbClr val="0B0E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892040" y="37947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B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892040" y="39776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trade-router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8686800" y="2606040"/>
            <a:ext cx="2377440" cy="1554480"/>
          </a:xfrm>
          <a:prstGeom prst="rect">
            <a:avLst/>
          </a:prstGeom>
          <a:solidFill>
            <a:srgbClr val="131820"/>
          </a:solidFill>
          <a:ln w="9525">
            <a:solidFill>
              <a:srgbClr val="2A32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8686800" y="2606040"/>
            <a:ext cx="2377440" cy="36576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9006840" y="2880360"/>
            <a:ext cx="73152" cy="73152"/>
          </a:xfrm>
          <a:prstGeom prst="ellipse">
            <a:avLst/>
          </a:prstGeom>
          <a:solidFill>
            <a:srgbClr val="39D353"/>
          </a:solidFill>
          <a:ln w="12700">
            <a:solidFill>
              <a:srgbClr val="0B0E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9299448" y="2880360"/>
            <a:ext cx="73152" cy="73152"/>
          </a:xfrm>
          <a:prstGeom prst="ellipse">
            <a:avLst/>
          </a:prstGeom>
          <a:solidFill>
            <a:srgbClr val="484F58">
              <a:alpha val="60000"/>
            </a:srgbClr>
          </a:solidFill>
          <a:ln w="12700">
            <a:solidFill>
              <a:srgbClr val="0B0E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9592056" y="2880360"/>
            <a:ext cx="73152" cy="73152"/>
          </a:xfrm>
          <a:prstGeom prst="ellipse">
            <a:avLst/>
          </a:prstGeom>
          <a:solidFill>
            <a:srgbClr val="484F58">
              <a:alpha val="60000"/>
            </a:srgbClr>
          </a:solidFill>
          <a:ln w="12700">
            <a:solidFill>
              <a:srgbClr val="0B0E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9884664" y="2880360"/>
            <a:ext cx="73152" cy="73152"/>
          </a:xfrm>
          <a:prstGeom prst="ellipse">
            <a:avLst/>
          </a:prstGeom>
          <a:solidFill>
            <a:srgbClr val="484F58">
              <a:alpha val="60000"/>
            </a:srgbClr>
          </a:solidFill>
          <a:ln w="12700">
            <a:solidFill>
              <a:srgbClr val="0B0E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10177272" y="2880360"/>
            <a:ext cx="73152" cy="73152"/>
          </a:xfrm>
          <a:prstGeom prst="ellipse">
            <a:avLst/>
          </a:prstGeom>
          <a:solidFill>
            <a:srgbClr val="484F58">
              <a:alpha val="60000"/>
            </a:srgbClr>
          </a:solidFill>
          <a:ln w="12700">
            <a:solidFill>
              <a:srgbClr val="0B0E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10469880" y="2880360"/>
            <a:ext cx="73152" cy="73152"/>
          </a:xfrm>
          <a:prstGeom prst="ellipse">
            <a:avLst/>
          </a:prstGeom>
          <a:solidFill>
            <a:srgbClr val="39D353"/>
          </a:solidFill>
          <a:ln w="12700">
            <a:solidFill>
              <a:srgbClr val="0B0E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9006840" y="3172968"/>
            <a:ext cx="73152" cy="73152"/>
          </a:xfrm>
          <a:prstGeom prst="ellipse">
            <a:avLst/>
          </a:prstGeom>
          <a:solidFill>
            <a:srgbClr val="484F58">
              <a:alpha val="60000"/>
            </a:srgbClr>
          </a:solidFill>
          <a:ln w="12700">
            <a:solidFill>
              <a:srgbClr val="0B0E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9299448" y="3172968"/>
            <a:ext cx="73152" cy="73152"/>
          </a:xfrm>
          <a:prstGeom prst="ellipse">
            <a:avLst/>
          </a:prstGeom>
          <a:solidFill>
            <a:srgbClr val="484F58">
              <a:alpha val="60000"/>
            </a:srgbClr>
          </a:solidFill>
          <a:ln w="12700">
            <a:solidFill>
              <a:srgbClr val="0B0E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9592056" y="3172968"/>
            <a:ext cx="73152" cy="73152"/>
          </a:xfrm>
          <a:prstGeom prst="ellipse">
            <a:avLst/>
          </a:prstGeom>
          <a:solidFill>
            <a:srgbClr val="484F58">
              <a:alpha val="60000"/>
            </a:srgbClr>
          </a:solidFill>
          <a:ln w="12700">
            <a:solidFill>
              <a:srgbClr val="0B0E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9884664" y="3172968"/>
            <a:ext cx="73152" cy="73152"/>
          </a:xfrm>
          <a:prstGeom prst="ellipse">
            <a:avLst/>
          </a:prstGeom>
          <a:solidFill>
            <a:srgbClr val="484F58">
              <a:alpha val="60000"/>
            </a:srgbClr>
          </a:solidFill>
          <a:ln w="12700">
            <a:solidFill>
              <a:srgbClr val="0B0E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10177272" y="3172968"/>
            <a:ext cx="73152" cy="73152"/>
          </a:xfrm>
          <a:prstGeom prst="ellipse">
            <a:avLst/>
          </a:prstGeom>
          <a:solidFill>
            <a:srgbClr val="39D353"/>
          </a:solidFill>
          <a:ln w="12700">
            <a:solidFill>
              <a:srgbClr val="0B0E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10469880" y="3172968"/>
            <a:ext cx="73152" cy="73152"/>
          </a:xfrm>
          <a:prstGeom prst="ellipse">
            <a:avLst/>
          </a:prstGeom>
          <a:solidFill>
            <a:srgbClr val="484F58">
              <a:alpha val="60000"/>
            </a:srgbClr>
          </a:solidFill>
          <a:ln w="12700">
            <a:solidFill>
              <a:srgbClr val="0B0E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9006840" y="3465576"/>
            <a:ext cx="73152" cy="73152"/>
          </a:xfrm>
          <a:prstGeom prst="ellipse">
            <a:avLst/>
          </a:prstGeom>
          <a:solidFill>
            <a:srgbClr val="484F58">
              <a:alpha val="60000"/>
            </a:srgbClr>
          </a:solidFill>
          <a:ln w="12700">
            <a:solidFill>
              <a:srgbClr val="0B0E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9299448" y="3465576"/>
            <a:ext cx="73152" cy="73152"/>
          </a:xfrm>
          <a:prstGeom prst="ellipse">
            <a:avLst/>
          </a:prstGeom>
          <a:solidFill>
            <a:srgbClr val="484F58">
              <a:alpha val="60000"/>
            </a:srgbClr>
          </a:solidFill>
          <a:ln w="12700">
            <a:solidFill>
              <a:srgbClr val="0B0E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9592056" y="3465576"/>
            <a:ext cx="73152" cy="73152"/>
          </a:xfrm>
          <a:prstGeom prst="ellipse">
            <a:avLst/>
          </a:prstGeom>
          <a:solidFill>
            <a:srgbClr val="484F58">
              <a:alpha val="60000"/>
            </a:srgbClr>
          </a:solidFill>
          <a:ln w="12700">
            <a:solidFill>
              <a:srgbClr val="0B0E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9884664" y="3465576"/>
            <a:ext cx="73152" cy="73152"/>
          </a:xfrm>
          <a:prstGeom prst="ellipse">
            <a:avLst/>
          </a:prstGeom>
          <a:solidFill>
            <a:srgbClr val="39D353"/>
          </a:solidFill>
          <a:ln w="12700">
            <a:solidFill>
              <a:srgbClr val="0B0E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10177272" y="3465576"/>
            <a:ext cx="73152" cy="73152"/>
          </a:xfrm>
          <a:prstGeom prst="ellipse">
            <a:avLst/>
          </a:prstGeom>
          <a:solidFill>
            <a:srgbClr val="484F58">
              <a:alpha val="60000"/>
            </a:srgbClr>
          </a:solidFill>
          <a:ln w="12700">
            <a:solidFill>
              <a:srgbClr val="0B0E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10469880" y="3465576"/>
            <a:ext cx="73152" cy="73152"/>
          </a:xfrm>
          <a:prstGeom prst="ellipse">
            <a:avLst/>
          </a:prstGeom>
          <a:solidFill>
            <a:srgbClr val="484F58">
              <a:alpha val="60000"/>
            </a:srgbClr>
          </a:solidFill>
          <a:ln w="12700">
            <a:solidFill>
              <a:srgbClr val="0B0E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8686800" y="37947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C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8686800" y="39776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doc-summarizer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2286000" y="4206240"/>
            <a:ext cx="3794760" cy="685800"/>
          </a:xfrm>
          <a:prstGeom prst="line">
            <a:avLst/>
          </a:prstGeom>
          <a:noFill/>
          <a:ln w="9525">
            <a:solidFill>
              <a:srgbClr val="2A323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4110228" y="4475988"/>
            <a:ext cx="146304" cy="146304"/>
          </a:xfrm>
          <a:prstGeom prst="rect">
            <a:avLst/>
          </a:prstGeom>
          <a:solidFill>
            <a:srgbClr val="0B0E1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4160520" y="4526280"/>
            <a:ext cx="45720" cy="45720"/>
          </a:xfrm>
          <a:prstGeom prst="ellipse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6080760" y="4206240"/>
            <a:ext cx="0" cy="685800"/>
          </a:xfrm>
          <a:prstGeom prst="line">
            <a:avLst/>
          </a:prstGeom>
          <a:noFill/>
          <a:ln w="9525">
            <a:solidFill>
              <a:srgbClr val="2A323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6007608" y="4475988"/>
            <a:ext cx="146304" cy="146304"/>
          </a:xfrm>
          <a:prstGeom prst="rect">
            <a:avLst/>
          </a:prstGeom>
          <a:solidFill>
            <a:srgbClr val="0B0E1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6057900" y="4526280"/>
            <a:ext cx="45720" cy="45720"/>
          </a:xfrm>
          <a:prstGeom prst="ellipse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9875520" y="4206240"/>
            <a:ext cx="0" cy="685800"/>
          </a:xfrm>
          <a:prstGeom prst="line">
            <a:avLst/>
          </a:prstGeom>
          <a:noFill/>
          <a:ln w="9525">
            <a:solidFill>
              <a:srgbClr val="2A323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7904988" y="4475988"/>
            <a:ext cx="146304" cy="146304"/>
          </a:xfrm>
          <a:prstGeom prst="rect">
            <a:avLst/>
          </a:prstGeom>
          <a:solidFill>
            <a:srgbClr val="0B0E1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7955280" y="4526280"/>
            <a:ext cx="45720" cy="45720"/>
          </a:xfrm>
          <a:prstGeom prst="ellipse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5916168" y="4773168"/>
            <a:ext cx="329184" cy="329184"/>
          </a:xfrm>
          <a:prstGeom prst="ellipse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4434840" y="52120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 LAYER</a:t>
            </a:r>
            <a:endParaRPr lang="en-US" sz="950" dirty="0"/>
          </a:p>
        </p:txBody>
      </p:sp>
      <p:sp>
        <p:nvSpPr>
          <p:cNvPr id="88" name="Text 86"/>
          <p:cNvSpPr/>
          <p:nvPr/>
        </p:nvSpPr>
        <p:spPr>
          <a:xfrm>
            <a:off x="3794760" y="54406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opt-in, gated, future direction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640080" y="59893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fractal by design — same primitives compose upward. cross-agent edges require explicit policy.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91440" cy="91440"/>
          </a:xfrm>
          <a:prstGeom prst="ellipse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04672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·  ARCHITECTURE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637215" y="3657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r>
              <a:rPr lang="en-US" sz="850" kern="0" spc="2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17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40080" y="658368"/>
            <a:ext cx="10911535" cy="7315"/>
          </a:xfrm>
          <a:prstGeom prst="rect">
            <a:avLst/>
          </a:prstGeom>
          <a:solidFill>
            <a:srgbClr val="1F2630"/>
          </a:solidFill>
          <a:ln w="12700">
            <a:solidFill>
              <a:srgbClr val="1F26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6355080"/>
            <a:ext cx="10911535" cy="7315"/>
          </a:xfrm>
          <a:prstGeom prst="rect">
            <a:avLst/>
          </a:prstGeom>
          <a:solidFill>
            <a:srgbClr val="1F2630"/>
          </a:solidFill>
          <a:ln w="12700">
            <a:solidFill>
              <a:srgbClr val="1F26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CONTEXTUAL MEMORY ARCHITECTURE  ·  v0.5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808415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DANNY WATKINS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" y="9601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10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intelligent functions.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40080" y="1554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Reasoner frames. Retriever recalls. Recorder forms.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6608" y="2880360"/>
            <a:ext cx="3200400" cy="2194560"/>
          </a:xfrm>
          <a:prstGeom prst="rect">
            <a:avLst/>
          </a:prstGeom>
          <a:solidFill>
            <a:srgbClr val="131820"/>
          </a:solidFill>
          <a:ln w="6350">
            <a:solidFill>
              <a:srgbClr val="1F26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46608" y="2880360"/>
            <a:ext cx="3200400" cy="36576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66648" y="3154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66648" y="34290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-3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REASONER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66648" y="39776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frames the goal,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decides what context matters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038448" y="37490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495648" y="2880360"/>
            <a:ext cx="3200400" cy="2194560"/>
          </a:xfrm>
          <a:prstGeom prst="rect">
            <a:avLst/>
          </a:prstGeom>
          <a:solidFill>
            <a:srgbClr val="131820"/>
          </a:solidFill>
          <a:ln w="6350">
            <a:solidFill>
              <a:srgbClr val="1F26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495648" y="2880360"/>
            <a:ext cx="3200400" cy="36576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15688" y="3154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15688" y="34290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-3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RETRIEVER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815688" y="39776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memory → context spec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via hybrid + graph search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87488" y="37490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244688" y="2880360"/>
            <a:ext cx="3200400" cy="2194560"/>
          </a:xfrm>
          <a:prstGeom prst="rect">
            <a:avLst/>
          </a:prstGeom>
          <a:solidFill>
            <a:srgbClr val="131820"/>
          </a:solidFill>
          <a:ln w="6350">
            <a:solidFill>
              <a:srgbClr val="1F26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244688" y="2880360"/>
            <a:ext cx="3200400" cy="36576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564728" y="3154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564728" y="34290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-3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RECORDER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564728" y="39776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experience → structured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durable memory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566928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memory feeds the next task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91440" cy="91440"/>
          </a:xfrm>
          <a:prstGeom prst="ellipse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04672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·  SUBSTRATE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637215" y="3657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r>
              <a:rPr lang="en-US" sz="850" kern="0" spc="2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17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40080" y="658368"/>
            <a:ext cx="10911535" cy="7315"/>
          </a:xfrm>
          <a:prstGeom prst="rect">
            <a:avLst/>
          </a:prstGeom>
          <a:solidFill>
            <a:srgbClr val="1F2630"/>
          </a:solidFill>
          <a:ln w="12700">
            <a:solidFill>
              <a:srgbClr val="1F26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6355080"/>
            <a:ext cx="10911535" cy="7315"/>
          </a:xfrm>
          <a:prstGeom prst="rect">
            <a:avLst/>
          </a:prstGeom>
          <a:solidFill>
            <a:srgbClr val="1F2630"/>
          </a:solidFill>
          <a:ln w="12700">
            <a:solidFill>
              <a:srgbClr val="1F26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CONTEXTUAL MEMORY ARCHITECTURE  ·  v0.5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808415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DANNY WATKINS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" y="9601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10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vault is the memory.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40080" y="1554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Just markdown. Open in Obsidian. Version with git. Grep from the shell.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651760"/>
            <a:ext cx="6583680" cy="3291840"/>
          </a:xfrm>
          <a:prstGeom prst="rect">
            <a:avLst/>
          </a:prstGeom>
          <a:solidFill>
            <a:srgbClr val="0F141B"/>
          </a:solidFill>
          <a:ln w="6350">
            <a:solidFill>
              <a:srgbClr val="1F26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68680" y="2880360"/>
            <a:ext cx="118872" cy="118872"/>
          </a:xfrm>
          <a:prstGeom prst="ellipse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78992" y="2880360"/>
            <a:ext cx="118872" cy="118872"/>
          </a:xfrm>
          <a:prstGeom prst="ellipse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289304" y="2880360"/>
            <a:ext cx="118872" cy="118872"/>
          </a:xfrm>
          <a:prstGeom prst="ellipse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54480" y="28163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async-capital-call-processing.md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3154680"/>
            <a:ext cx="6583680" cy="7315"/>
          </a:xfrm>
          <a:prstGeom prst="rect">
            <a:avLst/>
          </a:prstGeom>
          <a:solidFill>
            <a:srgbClr val="1F2630"/>
          </a:solidFill>
          <a:ln w="12700">
            <a:solidFill>
              <a:srgbClr val="1F26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60120" y="3337560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3520440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type: decision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60120" y="3703320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title: Async Capital Call Processing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60120" y="3886200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status: accepted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60120" y="4069080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confidence: 0.86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60120" y="4251960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tags: [capital-calls, performance, backend]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60120" y="4434840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60120" y="4617720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Async Capital Call Processing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60120" y="4800600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60120" y="4983480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 decided to move capital call processing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60120" y="5166360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into an async queue.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60120" y="5349240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60120" y="5532120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 [[Queue Retry Pattern]].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589520" y="2788920"/>
            <a:ext cx="7315" cy="777240"/>
          </a:xfrm>
          <a:prstGeom prst="rect">
            <a:avLst/>
          </a:prstGeom>
          <a:solidFill>
            <a:srgbClr val="2A323D"/>
          </a:solidFill>
          <a:ln w="12700">
            <a:solidFill>
              <a:srgbClr val="2A32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772400" y="2788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YAML frontmatter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772400" y="3108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machine-readable metadata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589520" y="3886200"/>
            <a:ext cx="7315" cy="777240"/>
          </a:xfrm>
          <a:prstGeom prst="rect">
            <a:avLst/>
          </a:prstGeom>
          <a:solidFill>
            <a:srgbClr val="2A323D"/>
          </a:solidFill>
          <a:ln w="12700">
            <a:solidFill>
              <a:srgbClr val="2A32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772400" y="3886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[[Wikilinks]]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772400" y="4206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 edges between notes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589520" y="4983480"/>
            <a:ext cx="7315" cy="777240"/>
          </a:xfrm>
          <a:prstGeom prst="rect">
            <a:avLst/>
          </a:prstGeom>
          <a:solidFill>
            <a:srgbClr val="2A323D"/>
          </a:solidFill>
          <a:ln w="12700">
            <a:solidFill>
              <a:srgbClr val="2A32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772400" y="4983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Filename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772400" y="5303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stable record id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91440" cy="91440"/>
          </a:xfrm>
          <a:prstGeom prst="ellipse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04672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·  IN PRACTICE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637215" y="3657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r>
              <a:rPr lang="en-US" sz="850" kern="0" spc="2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17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40080" y="658368"/>
            <a:ext cx="10911535" cy="7315"/>
          </a:xfrm>
          <a:prstGeom prst="rect">
            <a:avLst/>
          </a:prstGeom>
          <a:solidFill>
            <a:srgbClr val="1F2630"/>
          </a:solidFill>
          <a:ln w="12700">
            <a:solidFill>
              <a:srgbClr val="1F26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6355080"/>
            <a:ext cx="10911535" cy="7315"/>
          </a:xfrm>
          <a:prstGeom prst="rect">
            <a:avLst/>
          </a:prstGeom>
          <a:solidFill>
            <a:srgbClr val="1F2630"/>
          </a:solidFill>
          <a:ln w="12700">
            <a:solidFill>
              <a:srgbClr val="1F26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CONTEXTUAL MEMORY ARCHITECTURE  ·  v0.5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808415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DANNY WATKINS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" y="9601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-10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from a working vault.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40080" y="148132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email-checker agent. Every dot, a memory; every line, a relationship.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32640" y="1883664"/>
            <a:ext cx="5126415" cy="4187952"/>
          </a:xfrm>
          <a:prstGeom prst="rect">
            <a:avLst/>
          </a:prstGeom>
          <a:solidFill>
            <a:srgbClr val="2A323D"/>
          </a:solidFill>
          <a:ln w="12700">
            <a:solidFill>
              <a:srgbClr val="2A32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/home/claude/cma_slides/obsidi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9216" y="1920240"/>
            <a:ext cx="5053263" cy="41148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0080" y="617220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Obsidian graph view  ·  email-checker agent  ·  spec → source → backlink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91440" cy="91440"/>
          </a:xfrm>
          <a:prstGeom prst="ellipse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04672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 ·  RETRIEVAL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637215" y="3657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r>
              <a:rPr lang="en-US" sz="850" kern="0" spc="2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17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40080" y="658368"/>
            <a:ext cx="10911535" cy="7315"/>
          </a:xfrm>
          <a:prstGeom prst="rect">
            <a:avLst/>
          </a:prstGeom>
          <a:solidFill>
            <a:srgbClr val="1F2630"/>
          </a:solidFill>
          <a:ln w="12700">
            <a:solidFill>
              <a:srgbClr val="1F26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6355080"/>
            <a:ext cx="10911535" cy="7315"/>
          </a:xfrm>
          <a:prstGeom prst="rect">
            <a:avLst/>
          </a:prstGeom>
          <a:solidFill>
            <a:srgbClr val="1F2630"/>
          </a:solidFill>
          <a:ln w="12700">
            <a:solidFill>
              <a:srgbClr val="1F26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CONTEXTUAL MEMORY ARCHITECTURE  ·  v0.5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808415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DANNY WATKINS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" y="9601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10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Query to context, in five stages.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40080" y="1554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Deterministic. Inspectable. Reproducible.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371600" y="2788920"/>
            <a:ext cx="7315" cy="2926080"/>
          </a:xfrm>
          <a:prstGeom prst="rect">
            <a:avLst/>
          </a:prstGeom>
          <a:solidFill>
            <a:srgbClr val="1F2630"/>
          </a:solidFill>
          <a:ln w="12700">
            <a:solidFill>
              <a:srgbClr val="1F26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88720" y="2670048"/>
            <a:ext cx="365760" cy="365760"/>
          </a:xfrm>
          <a:prstGeom prst="ellipse">
            <a:avLst/>
          </a:prstGeom>
          <a:solidFill>
            <a:srgbClr val="0B0E1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88720" y="2670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28800" y="2606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-3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 seed search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828800" y="2916936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BM25L lexical + optional dense embeddings = hybrid score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188720" y="3328416"/>
            <a:ext cx="365760" cy="365760"/>
          </a:xfrm>
          <a:prstGeom prst="ellipse">
            <a:avLst/>
          </a:prstGeom>
          <a:solidFill>
            <a:srgbClr val="0B0E1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88720" y="3328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828800" y="326440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-3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Beam-pruned multi-hop traversal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828800" y="3575304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Expand outward over wikilinks, beam-prune at each depth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188720" y="3986784"/>
            <a:ext cx="365760" cy="365760"/>
          </a:xfrm>
          <a:prstGeom prst="ellipse">
            <a:avLst/>
          </a:prstGeom>
          <a:solidFill>
            <a:srgbClr val="0B0E1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88720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828800" y="3922776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-3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scoring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828800" y="42336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metadata_boost × depth_decay ^ depth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188720" y="4645152"/>
            <a:ext cx="365760" cy="365760"/>
          </a:xfrm>
          <a:prstGeom prst="ellipse">
            <a:avLst/>
          </a:prstGeom>
          <a:solidFill>
            <a:srgbClr val="0B0E1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188720" y="4645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828800" y="4581144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-3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Paragraph-level fragment extract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828800" y="4892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paragraphs against query, dedupe across nodes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188720" y="5303520"/>
            <a:ext cx="365760" cy="365760"/>
          </a:xfrm>
          <a:prstGeom prst="ellipse">
            <a:avLst/>
          </a:prstGeom>
          <a:solidFill>
            <a:srgbClr val="0B0E1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188720" y="5303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828800" y="523951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-3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 Spec assembly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828800" y="555040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Structured artifact: fragments + relationship map + provenance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91440" cy="91440"/>
          </a:xfrm>
          <a:prstGeom prst="ellipse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04672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 ·  SCORING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637215" y="3657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850" kern="0" spc="2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17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40080" y="658368"/>
            <a:ext cx="10911535" cy="7315"/>
          </a:xfrm>
          <a:prstGeom prst="rect">
            <a:avLst/>
          </a:prstGeom>
          <a:solidFill>
            <a:srgbClr val="1F2630"/>
          </a:solidFill>
          <a:ln w="12700">
            <a:solidFill>
              <a:srgbClr val="1F26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6355080"/>
            <a:ext cx="10911535" cy="7315"/>
          </a:xfrm>
          <a:prstGeom prst="rect">
            <a:avLst/>
          </a:prstGeom>
          <a:solidFill>
            <a:srgbClr val="1F2630"/>
          </a:solidFill>
          <a:ln w="12700">
            <a:solidFill>
              <a:srgbClr val="1F26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CONTEXTUAL MEMORY ARCHITECTURE  ·  v0.5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808415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DANNY WATKINS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" y="9601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10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 scoring, depth-decayed.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40080" y="1554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Lexical and semantic combined, then modulated by metadata and depth.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606040"/>
            <a:ext cx="10972800" cy="1234440"/>
          </a:xfrm>
          <a:prstGeom prst="rect">
            <a:avLst/>
          </a:prstGeom>
          <a:solidFill>
            <a:srgbClr val="0F141B"/>
          </a:solidFill>
          <a:ln w="6350">
            <a:solidFill>
              <a:srgbClr val="1F26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80720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node_score</a:t>
            </a:r>
            <a:r>
              <a:rPr lang="en-US" sz="18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8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</a:t>
            </a:r>
            <a:r>
              <a:rPr lang="en-US" sz="18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semantic + (1 − </a:t>
            </a:r>
            <a:r>
              <a:rPr lang="en-US" sz="18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</a:t>
            </a:r>
            <a:r>
              <a:rPr lang="en-US" sz="18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· lexical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331927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final_score</a:t>
            </a:r>
            <a:r>
              <a:rPr lang="en-US" sz="18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8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node_score</a:t>
            </a:r>
            <a:r>
              <a:rPr lang="en-US" sz="18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</a:t>
            </a:r>
            <a:r>
              <a:rPr lang="en-US" sz="18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metadata_boost</a:t>
            </a:r>
            <a:r>
              <a:rPr lang="en-US" sz="18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</a:t>
            </a:r>
            <a:r>
              <a:rPr lang="en-US" sz="18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decay ^ depth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4114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40080" y="45262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28800" y="45262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48188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decay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28800" y="48188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51114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beam_width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828800" y="511149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54041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828800" y="54041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520440" y="4114800"/>
            <a:ext cx="7315" cy="1691640"/>
          </a:xfrm>
          <a:prstGeom prst="rect">
            <a:avLst/>
          </a:prstGeom>
          <a:solidFill>
            <a:srgbClr val="1F2630"/>
          </a:solidFill>
          <a:ln w="12700">
            <a:solidFill>
              <a:srgbClr val="1F26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749040" y="4114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 BOOSTS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749040" y="43434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multiplicative, clamped at 0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749040" y="47091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accepted decision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675120" y="47091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 1.10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749040" y="49103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rejected decision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675120" y="491032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 0.70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749040" y="511149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superseded decision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675120" y="511149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 0.50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749040" y="531266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archived (any type)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675120" y="531266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 0.80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749040" y="551383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human_verified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675120" y="551383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 1.10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749040" y="571500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 ≥ 0.85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675120" y="57150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 1.08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749040" y="591616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 &lt; 0.30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675120" y="591616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 0.90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183880" y="4114800"/>
            <a:ext cx="7315" cy="1691640"/>
          </a:xfrm>
          <a:prstGeom prst="rect">
            <a:avLst/>
          </a:prstGeom>
          <a:solidFill>
            <a:srgbClr val="1F2630"/>
          </a:solidFill>
          <a:ln w="12700">
            <a:solidFill>
              <a:srgbClr val="1F26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412480" y="4114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DEPTH DECAY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412480" y="43434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traversal penalty: decay ^ depth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8412480" y="47091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DEPTH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9235440" y="47091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HOPS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0332720" y="470916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MULTIPLIER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8412480" y="4892040"/>
            <a:ext cx="3246120" cy="7315"/>
          </a:xfrm>
          <a:prstGeom prst="rect">
            <a:avLst/>
          </a:prstGeom>
          <a:solidFill>
            <a:srgbClr val="1F2630"/>
          </a:solidFill>
          <a:ln w="12700">
            <a:solidFill>
              <a:srgbClr val="1F26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8412480" y="498348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144000" y="49834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 match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10607040" y="49834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 1.00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8412480" y="522122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9144000" y="522122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hop away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10607040" y="522122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 0.80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8412480" y="545896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9144000" y="54589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hops away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10607040" y="545896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 0.64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8412480" y="574243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farther hops earn inclusion via topology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91440" cy="91440"/>
          </a:xfrm>
          <a:prstGeom prst="ellipse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04672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·  WRITE POLICY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637215" y="3657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r>
              <a:rPr lang="en-US" sz="850" kern="0" spc="2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17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40080" y="658368"/>
            <a:ext cx="10911535" cy="7315"/>
          </a:xfrm>
          <a:prstGeom prst="rect">
            <a:avLst/>
          </a:prstGeom>
          <a:solidFill>
            <a:srgbClr val="1F2630"/>
          </a:solidFill>
          <a:ln w="12700">
            <a:solidFill>
              <a:srgbClr val="1F26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6355080"/>
            <a:ext cx="10911535" cy="7315"/>
          </a:xfrm>
          <a:prstGeom prst="rect">
            <a:avLst/>
          </a:prstGeom>
          <a:solidFill>
            <a:srgbClr val="1F2630"/>
          </a:solidFill>
          <a:ln w="12700">
            <a:solidFill>
              <a:srgbClr val="1F26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CONTEXTUAL MEMORY ARCHITECTURE  ·  v0.5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808415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DANNY WATKINS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" y="9601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10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Confidence-gated memory writes.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40080" y="1554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potential write runs through these gates. The vault only sees what survives.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514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 FLOW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40080" y="2880360"/>
            <a:ext cx="4206240" cy="384048"/>
          </a:xfrm>
          <a:prstGeom prst="rect">
            <a:avLst/>
          </a:prstGeom>
          <a:solidFill>
            <a:srgbClr val="131820"/>
          </a:solidFill>
          <a:ln w="9525">
            <a:solidFill>
              <a:srgbClr val="2A32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28803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  &lt;  0.25  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271576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92040" y="2926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212080" y="2880360"/>
            <a:ext cx="914400" cy="384048"/>
          </a:xfrm>
          <a:prstGeom prst="rect">
            <a:avLst/>
          </a:prstGeom>
          <a:solidFill>
            <a:srgbClr val="0B0E13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12080" y="28803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63640" y="29260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dropped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097280" y="3264408"/>
            <a:ext cx="0" cy="274320"/>
          </a:xfrm>
          <a:prstGeom prst="line">
            <a:avLst/>
          </a:prstGeom>
          <a:noFill/>
          <a:ln w="12700">
            <a:solidFill>
              <a:srgbClr val="2A32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188720" y="33101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40080" y="3538728"/>
            <a:ext cx="4206240" cy="384048"/>
          </a:xfrm>
          <a:prstGeom prst="rect">
            <a:avLst/>
          </a:prstGeom>
          <a:solidFill>
            <a:srgbClr val="131820"/>
          </a:solidFill>
          <a:ln w="9525">
            <a:solidFill>
              <a:srgbClr val="2A32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7240" y="353872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= accepted | rejected  ?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337413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92040" y="3584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212080" y="3538728"/>
            <a:ext cx="914400" cy="384048"/>
          </a:xfrm>
          <a:prstGeom prst="rect">
            <a:avLst/>
          </a:prstGeom>
          <a:solidFill>
            <a:srgbClr val="0B0E1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212080" y="353872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63640" y="358444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vault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097280" y="3922776"/>
            <a:ext cx="0" cy="274320"/>
          </a:xfrm>
          <a:prstGeom prst="line">
            <a:avLst/>
          </a:prstGeom>
          <a:noFill/>
          <a:ln w="12700">
            <a:solidFill>
              <a:srgbClr val="2A32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188720" y="396849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40080" y="4197096"/>
            <a:ext cx="4206240" cy="384048"/>
          </a:xfrm>
          <a:prstGeom prst="rect">
            <a:avLst/>
          </a:prstGeom>
          <a:solidFill>
            <a:srgbClr val="131820"/>
          </a:solidFill>
          <a:ln w="9525">
            <a:solidFill>
              <a:srgbClr val="2A32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77240" y="419709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  ≥  0.75  ?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46320" y="40325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892040" y="4242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212080" y="4197096"/>
            <a:ext cx="914400" cy="384048"/>
          </a:xfrm>
          <a:prstGeom prst="rect">
            <a:avLst/>
          </a:prstGeom>
          <a:solidFill>
            <a:srgbClr val="0B0E1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212080" y="419709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63640" y="424281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vault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097280" y="4581144"/>
            <a:ext cx="0" cy="274320"/>
          </a:xfrm>
          <a:prstGeom prst="line">
            <a:avLst/>
          </a:prstGeom>
          <a:noFill/>
          <a:ln w="12700">
            <a:solidFill>
              <a:srgbClr val="2A32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188720" y="462686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40080" y="4855464"/>
            <a:ext cx="4206240" cy="384048"/>
          </a:xfrm>
          <a:prstGeom prst="rect">
            <a:avLst/>
          </a:prstGeom>
          <a:solidFill>
            <a:srgbClr val="131820"/>
          </a:solidFill>
          <a:ln w="9525">
            <a:solidFill>
              <a:srgbClr val="2A32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77240" y="485546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  ≥  0.50  ?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846320" y="469087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892040" y="4901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5212080" y="4855464"/>
            <a:ext cx="914400" cy="384048"/>
          </a:xfrm>
          <a:prstGeom prst="rect">
            <a:avLst/>
          </a:prstGeom>
          <a:solidFill>
            <a:srgbClr val="0B0E13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212080" y="485546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DRAFT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263640" y="490118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vault (draft)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1097280" y="5239512"/>
            <a:ext cx="0" cy="274320"/>
          </a:xfrm>
          <a:prstGeom prst="line">
            <a:avLst/>
          </a:prstGeom>
          <a:noFill/>
          <a:ln w="12700">
            <a:solidFill>
              <a:srgbClr val="2A32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188720" y="52852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40080" y="5513832"/>
            <a:ext cx="4206240" cy="384048"/>
          </a:xfrm>
          <a:prstGeom prst="rect">
            <a:avLst/>
          </a:prstGeom>
          <a:solidFill>
            <a:srgbClr val="0F141B"/>
          </a:solidFill>
          <a:ln w="6350">
            <a:solidFill>
              <a:srgbClr val="1F26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77240" y="551383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otherwise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846320" y="534924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892040" y="5559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5212080" y="5513832"/>
            <a:ext cx="914400" cy="384048"/>
          </a:xfrm>
          <a:prstGeom prst="rect">
            <a:avLst/>
          </a:prstGeom>
          <a:solidFill>
            <a:srgbClr val="0B0E13"/>
          </a:solidFill>
          <a:ln w="12700">
            <a:solidFill>
              <a:srgbClr val="D299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212080" y="55138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PROPOSE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263640" y="555955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proposals/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7635240" y="2514600"/>
            <a:ext cx="7315" cy="3657600"/>
          </a:xfrm>
          <a:prstGeom prst="rect">
            <a:avLst/>
          </a:prstGeom>
          <a:solidFill>
            <a:srgbClr val="1F2630"/>
          </a:solidFill>
          <a:ln w="12700">
            <a:solidFill>
              <a:srgbClr val="1F26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7863840" y="2514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 TABLE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7863840" y="28803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8961120" y="28803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10469880" y="28803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7863840" y="3081528"/>
            <a:ext cx="3749040" cy="7315"/>
          </a:xfrm>
          <a:prstGeom prst="rect">
            <a:avLst/>
          </a:prstGeom>
          <a:solidFill>
            <a:srgbClr val="2A323D"/>
          </a:solidFill>
          <a:ln w="12700">
            <a:solidFill>
              <a:srgbClr val="2A32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7863840" y="3246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accepted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961120" y="3246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any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10469880" y="3246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7863840" y="3538728"/>
            <a:ext cx="3749040" cy="7315"/>
          </a:xfrm>
          <a:prstGeom prst="rect">
            <a:avLst/>
          </a:prstGeom>
          <a:solidFill>
            <a:srgbClr val="1F2630"/>
          </a:solidFill>
          <a:ln w="12700">
            <a:solidFill>
              <a:srgbClr val="1F26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7863840" y="35753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rejected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8961120" y="357530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any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10469880" y="35753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7863840" y="3867912"/>
            <a:ext cx="3749040" cy="7315"/>
          </a:xfrm>
          <a:prstGeom prst="rect">
            <a:avLst/>
          </a:prstGeom>
          <a:solidFill>
            <a:srgbClr val="1F2630"/>
          </a:solidFill>
          <a:ln w="12700">
            <a:solidFill>
              <a:srgbClr val="1F26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7863840" y="39044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proposed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8961120" y="39044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 0.75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10469880" y="39044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7863840" y="4197096"/>
            <a:ext cx="3749040" cy="7315"/>
          </a:xfrm>
          <a:prstGeom prst="rect">
            <a:avLst/>
          </a:prstGeom>
          <a:solidFill>
            <a:srgbClr val="1F2630"/>
          </a:solidFill>
          <a:ln w="12700">
            <a:solidFill>
              <a:srgbClr val="1F26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7863840" y="42336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proposed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8961120" y="42336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0.50 – 0.74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10469880" y="42336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DRAFT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7863840" y="4526280"/>
            <a:ext cx="3749040" cy="7315"/>
          </a:xfrm>
          <a:prstGeom prst="rect">
            <a:avLst/>
          </a:prstGeom>
          <a:solidFill>
            <a:srgbClr val="1F2630"/>
          </a:solidFill>
          <a:ln w="12700">
            <a:solidFill>
              <a:srgbClr val="1F26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7863840" y="45628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proposed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8961120" y="45628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0.25 – 0.49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10469880" y="45628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PROPOSE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7863840" y="4855464"/>
            <a:ext cx="3749040" cy="7315"/>
          </a:xfrm>
          <a:prstGeom prst="rect">
            <a:avLst/>
          </a:prstGeom>
          <a:solidFill>
            <a:srgbClr val="1F2630"/>
          </a:solidFill>
          <a:ln w="12700">
            <a:solidFill>
              <a:srgbClr val="1F26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7863840" y="4892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any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8961120" y="4892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0.25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10469880" y="4892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SKIP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640080" y="612648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without gating, every guess lands in memory. compounding noise degrades reasoning.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91440" cy="91440"/>
          </a:xfrm>
          <a:prstGeom prst="ellipse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04672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·  IN PRACTICE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637215" y="3657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r>
              <a:rPr lang="en-US" sz="850" kern="0" spc="2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17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40080" y="658368"/>
            <a:ext cx="10911535" cy="7315"/>
          </a:xfrm>
          <a:prstGeom prst="rect">
            <a:avLst/>
          </a:prstGeom>
          <a:solidFill>
            <a:srgbClr val="1F2630"/>
          </a:solidFill>
          <a:ln w="12700">
            <a:solidFill>
              <a:srgbClr val="1F26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6355080"/>
            <a:ext cx="10911535" cy="7315"/>
          </a:xfrm>
          <a:prstGeom prst="rect">
            <a:avLst/>
          </a:prstGeom>
          <a:solidFill>
            <a:srgbClr val="1F2630"/>
          </a:solidFill>
          <a:ln w="12700">
            <a:solidFill>
              <a:srgbClr val="1F26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CONTEXTUAL MEMORY ARCHITECTURE  ·  v0.5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808415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DANNY WATKINS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" y="9601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10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an agent sees.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40080" y="1554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retrieve() call surfaces the relevant decision — linked, contextualized, ready to reason over.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" y="2478024"/>
            <a:ext cx="3274055" cy="3456432"/>
          </a:xfrm>
          <a:prstGeom prst="rect">
            <a:avLst/>
          </a:prstGeom>
          <a:solidFill>
            <a:srgbClr val="2A323D"/>
          </a:solidFill>
          <a:ln w="12700">
            <a:solidFill>
              <a:srgbClr val="2A32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/home/claude/cma_slides/termina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14600"/>
            <a:ext cx="3200903" cy="33832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389623" y="2606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OBSERVATION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389623" y="3063240"/>
            <a:ext cx="716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retrieval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389623" y="3337560"/>
            <a:ext cx="716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calls cma, gets a Context Spec — not a chunk dump.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389623" y="3886200"/>
            <a:ext cx="716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Decisions surface as decisions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389623" y="4160520"/>
            <a:ext cx="716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[[notification_channels]] arrives with status, rationale, and rejected alternatives.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389623" y="4709160"/>
            <a:ext cx="716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Caveats included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389623" y="4983480"/>
            <a:ext cx="716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"Both decisions are still proposed, not accepted" — the agent knows what's tentative.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389623" y="5532120"/>
            <a:ext cx="716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Self-narrating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389623" y="5806440"/>
            <a:ext cx="716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was loaded, why it was relevant, what to read next.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91440" cy="91440"/>
          </a:xfrm>
          <a:prstGeom prst="ellipse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04672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·  OBSERVABILITY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637215" y="3657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r>
              <a:rPr lang="en-US" sz="850" kern="0" spc="2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17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40080" y="658368"/>
            <a:ext cx="10911535" cy="7315"/>
          </a:xfrm>
          <a:prstGeom prst="rect">
            <a:avLst/>
          </a:prstGeom>
          <a:solidFill>
            <a:srgbClr val="1F2630"/>
          </a:solidFill>
          <a:ln w="12700">
            <a:solidFill>
              <a:srgbClr val="1F26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6355080"/>
            <a:ext cx="10911535" cy="7315"/>
          </a:xfrm>
          <a:prstGeom prst="rect">
            <a:avLst/>
          </a:prstGeom>
          <a:solidFill>
            <a:srgbClr val="1F2630"/>
          </a:solidFill>
          <a:ln w="12700">
            <a:solidFill>
              <a:srgbClr val="1F26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CONTEXTUAL MEMORY ARCHITECTURE  ·  v0.5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808415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DANNY WATKINS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" y="9601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-10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Memory you can watch.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40080" y="148132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retrieve, search, and write — logged, grouped by session, linked to every artifact.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20073" y="1883664"/>
            <a:ext cx="5351548" cy="4187952"/>
          </a:xfrm>
          <a:prstGeom prst="rect">
            <a:avLst/>
          </a:prstGeom>
          <a:solidFill>
            <a:srgbClr val="2A323D"/>
          </a:solidFill>
          <a:ln w="12700">
            <a:solidFill>
              <a:srgbClr val="2A32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/home/claude/cma_slides/dashbo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6649" y="1920240"/>
            <a:ext cx="5278396" cy="41148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0080" y="617220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cma/memory_log/dashboard.html  ·  static, self-refreshing, no server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91440" cy="91440"/>
          </a:xfrm>
          <a:prstGeom prst="ellipse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04672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 ·  INTEGRATION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637215" y="3657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r>
              <a:rPr lang="en-US" sz="850" kern="0" spc="2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17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40080" y="658368"/>
            <a:ext cx="10911535" cy="7315"/>
          </a:xfrm>
          <a:prstGeom prst="rect">
            <a:avLst/>
          </a:prstGeom>
          <a:solidFill>
            <a:srgbClr val="1F2630"/>
          </a:solidFill>
          <a:ln w="12700">
            <a:solidFill>
              <a:srgbClr val="1F26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6355080"/>
            <a:ext cx="10911535" cy="7315"/>
          </a:xfrm>
          <a:prstGeom prst="rect">
            <a:avLst/>
          </a:prstGeom>
          <a:solidFill>
            <a:srgbClr val="1F2630"/>
          </a:solidFill>
          <a:ln w="12700">
            <a:solidFill>
              <a:srgbClr val="1F26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CONTEXTUAL MEMORY ARCHITECTURE  ·  v0.5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808415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DANNY WATKINS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" y="9601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10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 MCP tools. Any agent.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40080" y="1554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 graph primitives, four orchestrators. Stdio transport.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697480"/>
            <a:ext cx="5394960" cy="3017520"/>
          </a:xfrm>
          <a:prstGeom prst="rect">
            <a:avLst/>
          </a:prstGeom>
          <a:solidFill>
            <a:srgbClr val="131820"/>
          </a:solidFill>
          <a:ln w="6350">
            <a:solidFill>
              <a:srgbClr val="1F26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971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PRIMITIVES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68680" y="3383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search_notes(query, top_k)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3749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get_note(title)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4114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get_outgoing_links(title)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4480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get_backlinks(title)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4846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traverse_graph(start, depth)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5212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search_by_frontmatter(key, value)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2697480"/>
            <a:ext cx="5394960" cy="3017520"/>
          </a:xfrm>
          <a:prstGeom prst="rect">
            <a:avLst/>
          </a:prstGeom>
          <a:solidFill>
            <a:srgbClr val="131820"/>
          </a:solidFill>
          <a:ln w="6350">
            <a:solidFill>
              <a:srgbClr val="1F26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92240" y="2971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ORCHESTRATORS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492240" y="33832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retrieve(query, max_depth, beam_width)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92240" y="382219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record_completion(yaml, dry_run)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92240" y="426110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graph_health()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92240" y="470001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reindex()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59436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wires into Claude Code via .mcp.json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91440" cy="91440"/>
          </a:xfrm>
          <a:prstGeom prst="ellipse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04672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 ·  SCALE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637215" y="3657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r>
              <a:rPr lang="en-US" sz="850" kern="0" spc="2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17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40080" y="658368"/>
            <a:ext cx="10911535" cy="7315"/>
          </a:xfrm>
          <a:prstGeom prst="rect">
            <a:avLst/>
          </a:prstGeom>
          <a:solidFill>
            <a:srgbClr val="1F2630"/>
          </a:solidFill>
          <a:ln w="12700">
            <a:solidFill>
              <a:srgbClr val="1F26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6355080"/>
            <a:ext cx="10911535" cy="7315"/>
          </a:xfrm>
          <a:prstGeom prst="rect">
            <a:avLst/>
          </a:prstGeom>
          <a:solidFill>
            <a:srgbClr val="1F2630"/>
          </a:solidFill>
          <a:ln w="12700">
            <a:solidFill>
              <a:srgbClr val="1F26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CONTEXTUAL MEMORY ARCHITECTURE  ·  v0.5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808415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DANNY WATKINS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" y="9601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-10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Designed for single-CPU scale.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40080" y="1554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Footprint and warm-process latency on commodity hardware (MiniLM-L6-v2 384d).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6060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VAULT SIZE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286000" y="26060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MARKDOWN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840480" y="26060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394960" y="26060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 RAM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132320" y="2606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WARM RETRIEVE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9144000" y="26060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40080" y="2898648"/>
            <a:ext cx="10972800" cy="7315"/>
          </a:xfrm>
          <a:prstGeom prst="rect">
            <a:avLst/>
          </a:prstGeom>
          <a:solidFill>
            <a:srgbClr val="2A323D"/>
          </a:solidFill>
          <a:ln w="12700">
            <a:solidFill>
              <a:srgbClr val="2A32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1K notes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286000" y="30632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~4 MB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840480" y="30632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1.5 MB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394960" y="3063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~750 MB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132320" y="3063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~40 ms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144000" y="3063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measured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3474720"/>
            <a:ext cx="10972800" cy="7315"/>
          </a:xfrm>
          <a:prstGeom prst="rect">
            <a:avLst/>
          </a:prstGeom>
          <a:solidFill>
            <a:srgbClr val="1F2630"/>
          </a:solidFill>
          <a:ln w="12700">
            <a:solidFill>
              <a:srgbClr val="1F26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" y="3520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10K notes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286000" y="3520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~37 MB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840480" y="3520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MB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394960" y="3520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~1.2 GB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132320" y="3520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~170 ms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144000" y="3520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measured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0080" y="3931920"/>
            <a:ext cx="10972800" cy="7315"/>
          </a:xfrm>
          <a:prstGeom prst="rect">
            <a:avLst/>
          </a:prstGeom>
          <a:solidFill>
            <a:srgbClr val="1F2630"/>
          </a:solidFill>
          <a:ln w="12700">
            <a:solidFill>
              <a:srgbClr val="1F26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0080" y="3977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100K notes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286000" y="3977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~370 MB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840480" y="3977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~150 MB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394960" y="3977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 GB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132320" y="3977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~1.7 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9144000" y="3977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projected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40080" y="4389120"/>
            <a:ext cx="10972800" cy="7315"/>
          </a:xfrm>
          <a:prstGeom prst="rect">
            <a:avLst/>
          </a:prstGeom>
          <a:solidFill>
            <a:srgbClr val="1F2630"/>
          </a:solidFill>
          <a:ln w="12700">
            <a:solidFill>
              <a:srgbClr val="1F26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40080" y="4434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1M notes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2286000" y="4434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~3.7 GB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3840480" y="4434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~1.5 GB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394960" y="4434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~10+ GB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7132320" y="4434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needs ANN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9144000" y="4434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projected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40080" y="55778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1K and 10K rows measured via docs/bench_scaling.py. 100K row extrapolated linearly from the 10K measurement.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40080" y="58064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process RAM includes the ~500 MB resident sentence-transformers model. beyond ~100K, swap to FAISS / hnswlib.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40080" y="60350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warm retrieve = in-process (MCP server case). shell-invoked cma retrieve pays a ~10-15 s model load per call.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91440" cy="91440"/>
          </a:xfrm>
          <a:prstGeom prst="ellipse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04672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 ·  WHY IT MATTERS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637215" y="3657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r>
              <a:rPr lang="en-US" sz="850" kern="0" spc="2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17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40080" y="658368"/>
            <a:ext cx="10911535" cy="7315"/>
          </a:xfrm>
          <a:prstGeom prst="rect">
            <a:avLst/>
          </a:prstGeom>
          <a:solidFill>
            <a:srgbClr val="1F2630"/>
          </a:solidFill>
          <a:ln w="12700">
            <a:solidFill>
              <a:srgbClr val="1F26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6355080"/>
            <a:ext cx="10911535" cy="7315"/>
          </a:xfrm>
          <a:prstGeom prst="rect">
            <a:avLst/>
          </a:prstGeom>
          <a:solidFill>
            <a:srgbClr val="1F2630"/>
          </a:solidFill>
          <a:ln w="12700">
            <a:solidFill>
              <a:srgbClr val="1F26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CONTEXTUAL MEMORY ARCHITECTURE  ·  v0.5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808415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DANNY WATKINS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" y="9601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10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Smarter agents, fewer tokens.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40080" y="1554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mechanism does both: cherry-pick fragments, persist what was learned.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37744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239572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 COMPOUNDS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188720" y="268833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Decisions, patterns, and postmortems from prior sessions surface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automatically on the next relevant task. The agent inherits its own work.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324612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326440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IS CHERRY-PICKED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88720" y="355701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Fragment-level extraction, not whole-document dumping. The Retriever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ranks paragraphs against the query and pulls only what's relevant.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297680"/>
            <a:ext cx="5349240" cy="1691640"/>
          </a:xfrm>
          <a:prstGeom prst="rect">
            <a:avLst/>
          </a:prstGeom>
          <a:solidFill>
            <a:srgbClr val="131820"/>
          </a:solidFill>
          <a:ln w="6350">
            <a:solidFill>
              <a:srgbClr val="1F26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8680" y="446227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MEASUREMENT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68680" y="4681728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email-checker  ·  one retrieve  ·  10 sources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68680" y="50292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bodies (total)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931920" y="50292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2,697 tokens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68680" y="52852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Fragments extracted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931920" y="5285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1,038 tokens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68680" y="554126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Reduction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931920" y="55412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61.5 %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63640" y="4297680"/>
            <a:ext cx="5349240" cy="1691640"/>
          </a:xfrm>
          <a:prstGeom prst="rect">
            <a:avLst/>
          </a:prstGeom>
          <a:solidFill>
            <a:srgbClr val="131820"/>
          </a:solidFill>
          <a:ln w="6350">
            <a:solidFill>
              <a:srgbClr val="1F26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92240" y="446227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ARCHITECTURAL BOUND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492240" y="4773168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 size is bounded by configuration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(beam_width, max_depth, max_fragments_per_node),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by vault size. Cost per query stays flat as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memory grows.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0080" y="612648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measurement from cma/memory_log/activity.jsonl on the email-checker demo. your mileage will vary with vault and query.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kern="0" spc="-20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started.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Local-first. Open source. Drop-in for any MCP-aware agent.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743200"/>
            <a:ext cx="10515600" cy="2743200"/>
          </a:xfrm>
          <a:prstGeom prst="rect">
            <a:avLst/>
          </a:prstGeom>
          <a:solidFill>
            <a:srgbClr val="0F141B"/>
          </a:solidFill>
          <a:ln w="6350">
            <a:solidFill>
              <a:srgbClr val="1F26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51560" y="2971800"/>
            <a:ext cx="118872" cy="118872"/>
          </a:xfrm>
          <a:prstGeom prst="ellipse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261872" y="2971800"/>
            <a:ext cx="118872" cy="118872"/>
          </a:xfrm>
          <a:prstGeom prst="ellipse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472184" y="2971800"/>
            <a:ext cx="118872" cy="118872"/>
          </a:xfrm>
          <a:prstGeom prst="ellipse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737360" y="29077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zsh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22960" y="3246120"/>
            <a:ext cx="10515600" cy="7315"/>
          </a:xfrm>
          <a:prstGeom prst="rect">
            <a:avLst/>
          </a:prstGeom>
          <a:solidFill>
            <a:srgbClr val="1F2630"/>
          </a:solidFill>
          <a:ln w="12700">
            <a:solidFill>
              <a:srgbClr val="1F26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43000" y="345643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463040" y="34564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github.com/danny-watkins/contextual-memory-architecture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43000" y="375818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463040" y="375818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contextual-memory-architecture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43000" y="405993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463040" y="405993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-e ".[all]"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43000" y="436168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463040" y="436168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/path/to/your-agent-project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43000" y="466344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463040" y="46634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cma add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023360" y="466344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scaffold + ingest + wire MCP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43000" y="496519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463040" y="496519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023360" y="496519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CMA fires on every prompt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2960" y="5715000"/>
            <a:ext cx="10515600" cy="7315"/>
          </a:xfrm>
          <a:prstGeom prst="rect">
            <a:avLst/>
          </a:prstGeom>
          <a:solidFill>
            <a:srgbClr val="1F2630"/>
          </a:solidFill>
          <a:ln w="12700">
            <a:solidFill>
              <a:srgbClr val="1F26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22960" y="589788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234440" y="5925312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github.com/danny-watkins/contextual-memory-architecture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34440" y="629107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source  ·  Local-first  ·  Built for Claude Code  ·  Works with any MCP-aware agent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1609</Words>
  <Application>Microsoft Office PowerPoint</Application>
  <PresentationFormat>Widescreen</PresentationFormat>
  <Paragraphs>402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Consolas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Contextual Memory Architecture</dc:title>
  <dc:subject>PptxGenJS Presentation</dc:subject>
  <dc:creator>Danny Watkins</dc:creator>
  <cp:lastModifiedBy>Danny Watkins</cp:lastModifiedBy>
  <cp:revision>2</cp:revision>
  <dcterms:created xsi:type="dcterms:W3CDTF">2026-05-13T00:40:47Z</dcterms:created>
  <dcterms:modified xsi:type="dcterms:W3CDTF">2026-05-13T01:58:34Z</dcterms:modified>
</cp:coreProperties>
</file>